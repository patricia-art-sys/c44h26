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985000" cy="9271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898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9532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013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844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041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214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447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4548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436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255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67527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3936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380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7005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86411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5826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3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AE6FEBD-0366-49B9-9BFE-BD3F877CA4D8}" type="datetimeFigureOut">
              <a:rPr lang="fr-CA" smtClean="0"/>
              <a:t>2025-03-03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D7704F-C304-4219-B0D4-244A936AAFD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43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Modèle de conception Singleton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Cours C44 – Éric Labonté</a:t>
            </a:r>
          </a:p>
        </p:txBody>
      </p:sp>
    </p:spTree>
    <p:extLst>
      <p:ext uri="{BB962C8B-B14F-4D97-AF65-F5344CB8AC3E}">
        <p14:creationId xmlns:p14="http://schemas.microsoft.com/office/powerpoint/2010/main" val="315761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patrons de conception ( design patterns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fr-CA" dirty="0"/>
          </a:p>
          <a:p>
            <a:endParaRPr lang="fr-CA" dirty="0"/>
          </a:p>
          <a:p>
            <a:r>
              <a:rPr lang="fr-CA" dirty="0"/>
              <a:t>Il s’agit d’un arrangement caractéristique de modules, considéré comme une bonne pratique à un problème de conception commun</a:t>
            </a:r>
          </a:p>
          <a:p>
            <a:r>
              <a:rPr lang="fr-CA" dirty="0"/>
              <a:t>Il s’agit de grandes lignes que le programmeur pourra ensuite adapter à son projet, peu importe le langage qu’il emploie</a:t>
            </a:r>
          </a:p>
          <a:p>
            <a:r>
              <a:rPr lang="fr-CA" dirty="0"/>
              <a:t>De nombreux patrons de conception existent en orienté-objet : nous verrons ici le singleton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5333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singleton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dirty="0"/>
              <a:t>Lorsqu’on se rend compte qu’on a besoin d’exactement une instance pour tout le projet; on ne veut pas avoir à créer des objets bidons seulement pour appeler les méthodes de cette classe.</a:t>
            </a:r>
          </a:p>
          <a:p>
            <a:r>
              <a:rPr lang="fr-CA" dirty="0"/>
              <a:t>Le singleton représente cet objet pouvant être accédé de différents endroits dans notre projet; il devient un point d’accès global.</a:t>
            </a:r>
          </a:p>
          <a:p>
            <a:r>
              <a:rPr lang="fr-CA" dirty="0"/>
              <a:t>Souvent utilisé pour des connexions à des ressources externes, comme une connexion à une base de données</a:t>
            </a:r>
          </a:p>
          <a:p>
            <a:r>
              <a:rPr lang="fr-CA" dirty="0"/>
              <a:t>Continue d’exister tant que l’application est vivante, car on travaille avec une instance statique</a:t>
            </a:r>
          </a:p>
        </p:txBody>
      </p:sp>
    </p:spTree>
    <p:extLst>
      <p:ext uri="{BB962C8B-B14F-4D97-AF65-F5344CB8AC3E}">
        <p14:creationId xmlns:p14="http://schemas.microsoft.com/office/powerpoint/2010/main" val="345661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singleton : 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Assurer qu’on puisse créer qu’un seul objet de cette classe</a:t>
            </a:r>
          </a:p>
          <a:p>
            <a:r>
              <a:rPr lang="fr-CA" dirty="0"/>
              <a:t>Permettre de récupérer, au besoin, des références de cet objet </a:t>
            </a:r>
          </a:p>
          <a:p>
            <a:r>
              <a:rPr lang="fr-CA" dirty="0"/>
              <a:t>Devient un point d’accès global pour les méthodes / données stockées dans cet objet</a:t>
            </a:r>
          </a:p>
        </p:txBody>
      </p:sp>
    </p:spTree>
    <p:extLst>
      <p:ext uri="{BB962C8B-B14F-4D97-AF65-F5344CB8AC3E}">
        <p14:creationId xmlns:p14="http://schemas.microsoft.com/office/powerpoint/2010/main" val="376588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D92F3-B92F-49A7-91AC-98A241A5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de modélisations avec un Singleton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3F4AFC-8F0D-4F61-B2BF-DC5FA555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714" y="4296316"/>
            <a:ext cx="10018713" cy="2077678"/>
          </a:xfrm>
        </p:spPr>
        <p:txBody>
          <a:bodyPr>
            <a:normAutofit lnSpcReduction="10000"/>
          </a:bodyPr>
          <a:lstStyle/>
          <a:p>
            <a:r>
              <a:rPr lang="fr-CA" dirty="0"/>
              <a:t>Conception d’un jeu de stratégie militaire: </a:t>
            </a:r>
          </a:p>
          <a:p>
            <a:pPr lvl="1"/>
            <a:r>
              <a:rPr lang="fr-CA" dirty="0"/>
              <a:t>Classes : Avion, Artillerie, Soldat, Bombe…</a:t>
            </a:r>
          </a:p>
          <a:p>
            <a:pPr lvl="1"/>
            <a:r>
              <a:rPr lang="fr-CA" dirty="0"/>
              <a:t>Classe </a:t>
            </a:r>
            <a:r>
              <a:rPr lang="fr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PresidentEtatsUnis</a:t>
            </a:r>
            <a:r>
              <a:rPr lang="fr-CA" dirty="0"/>
              <a:t>, il ne peut y avoir pas plus qu’un Président à la fois dans le jeu, c’est un Singleton…pas besoin de créer un nouvel objet </a:t>
            </a:r>
            <a:r>
              <a:rPr lang="fr-CA" dirty="0" err="1"/>
              <a:t>President</a:t>
            </a:r>
            <a:r>
              <a:rPr lang="fr-CA" dirty="0"/>
              <a:t> à chaque fois qu’on veut appeler la méthode </a:t>
            </a:r>
            <a:r>
              <a:rPr lang="fr-CA" dirty="0" err="1"/>
              <a:t>déclarerGuerre</a:t>
            </a:r>
            <a:r>
              <a:rPr lang="fr-CA" dirty="0"/>
              <a:t>, </a:t>
            </a:r>
            <a:r>
              <a:rPr lang="fr-CA" dirty="0" err="1"/>
              <a:t>envoyerSoldatsAuTchad</a:t>
            </a:r>
            <a:r>
              <a:rPr lang="fr-CA" dirty="0"/>
              <a:t>, etc…un seul objet suffit pour tout le projet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9E36755-1800-48C9-9AB8-B8903F4AE294}"/>
              </a:ext>
            </a:extLst>
          </p:cNvPr>
          <p:cNvSpPr txBox="1">
            <a:spLocks/>
          </p:cNvSpPr>
          <p:nvPr/>
        </p:nvSpPr>
        <p:spPr>
          <a:xfrm>
            <a:off x="1668106" y="2297446"/>
            <a:ext cx="10018713" cy="20776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Conception d’un pool de hockey : </a:t>
            </a:r>
          </a:p>
          <a:p>
            <a:pPr lvl="1"/>
            <a:r>
              <a:rPr lang="fr-CA" dirty="0"/>
              <a:t>Classes : Participant, Joueur, </a:t>
            </a:r>
            <a:r>
              <a:rPr lang="fr-CA" dirty="0" err="1"/>
              <a:t>Defenseur</a:t>
            </a:r>
            <a:r>
              <a:rPr lang="fr-CA" dirty="0"/>
              <a:t>, Gardien…</a:t>
            </a:r>
          </a:p>
          <a:p>
            <a:pPr lvl="1"/>
            <a:r>
              <a:rPr lang="fr-CA" dirty="0"/>
              <a:t>Classe 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Pool</a:t>
            </a:r>
            <a:r>
              <a:rPr lang="fr-CA" dirty="0"/>
              <a:t> regroupant les règles du pool ( on a pas le droit de dépenser plus de 50M$, on a pas le droit de choisir plus de 3 gardiens, etc. ) Il y a un seul objet Pool pour tout le projet, c’est un Singleton</a:t>
            </a:r>
          </a:p>
        </p:txBody>
      </p:sp>
    </p:spTree>
    <p:extLst>
      <p:ext uri="{BB962C8B-B14F-4D97-AF65-F5344CB8AC3E}">
        <p14:creationId xmlns:p14="http://schemas.microsoft.com/office/powerpoint/2010/main" val="258234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FB270-2E7B-4D76-927C-73EDC32F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Pourquoi utiliser un Singleton plutôt qu’une classe </a:t>
            </a:r>
            <a:r>
              <a:rPr lang="fr-CA" dirty="0" err="1"/>
              <a:t>static</a:t>
            </a:r>
            <a:r>
              <a:rPr lang="fr-CA" dirty="0"/>
              <a:t> ( une seule copie pour la classe )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CFD2BD-634A-4FA5-8310-01CC98F2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rgbClr val="222635"/>
                </a:solidFill>
                <a:latin typeface="Cambria" panose="02040503050406030204" pitchFamily="18" charset="0"/>
              </a:rPr>
              <a:t>Un des principaux avantages du Singleton sur la classe statique est qu’il peut mettre en </a:t>
            </a:r>
            <a:r>
              <a:rPr lang="fr-CA" dirty="0" err="1">
                <a:solidFill>
                  <a:srgbClr val="222635"/>
                </a:solidFill>
                <a:latin typeface="Cambria" panose="02040503050406030204" pitchFamily="18" charset="0"/>
              </a:rPr>
              <a:t>oeuvre</a:t>
            </a:r>
            <a:r>
              <a:rPr lang="fr-CA" dirty="0">
                <a:solidFill>
                  <a:srgbClr val="222635"/>
                </a:solidFill>
                <a:latin typeface="Cambria" panose="02040503050406030204" pitchFamily="18" charset="0"/>
              </a:rPr>
              <a:t> des interfaces et être une sous-classe d’une superclasse  tandis que la classe statique ne peut pas (il peut </a:t>
            </a:r>
            <a:r>
              <a:rPr lang="fr-CA" dirty="0" err="1">
                <a:solidFill>
                  <a:srgbClr val="222635"/>
                </a:solidFill>
                <a:latin typeface="Cambria" panose="02040503050406030204" pitchFamily="18" charset="0"/>
              </a:rPr>
              <a:t>extends</a:t>
            </a:r>
            <a:r>
              <a:rPr lang="fr-CA" dirty="0">
                <a:solidFill>
                  <a:srgbClr val="222635"/>
                </a:solidFill>
                <a:latin typeface="Cambria" panose="02040503050406030204" pitchFamily="18" charset="0"/>
              </a:rPr>
              <a:t> une superclasse, mais il n’hérite pas de ses variables d’instance). 
Un singleton peut avoir à la fois des variables </a:t>
            </a:r>
            <a:r>
              <a:rPr lang="fr-CA" dirty="0" err="1">
                <a:solidFill>
                  <a:srgbClr val="222635"/>
                </a:solidFill>
                <a:latin typeface="Cambria" panose="02040503050406030204" pitchFamily="18" charset="0"/>
              </a:rPr>
              <a:t>static</a:t>
            </a:r>
            <a:r>
              <a:rPr lang="fr-CA" dirty="0">
                <a:solidFill>
                  <a:srgbClr val="222635"/>
                </a:solidFill>
                <a:latin typeface="Cambria" panose="02040503050406030204" pitchFamily="18" charset="0"/>
              </a:rPr>
              <a:t> et non-statiques tandis qu’une classe statique ne peut avoir que des variables </a:t>
            </a:r>
            <a:r>
              <a:rPr lang="fr-CA" dirty="0" err="1">
                <a:solidFill>
                  <a:srgbClr val="222635"/>
                </a:solidFill>
                <a:latin typeface="Cambria" panose="02040503050406030204" pitchFamily="18" charset="0"/>
              </a:rPr>
              <a:t>static</a:t>
            </a:r>
            <a:r>
              <a:rPr lang="fr-CA" dirty="0">
                <a:solidFill>
                  <a:srgbClr val="222635"/>
                </a:solidFill>
                <a:latin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On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peut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cloner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l’objet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du Singleton,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mais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on ne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peut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pas cloner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une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</a:t>
            </a:r>
            <a:r>
              <a:rPr lang="en-US" b="0" i="0" dirty="0" err="1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classe</a:t>
            </a:r>
            <a:r>
              <a:rPr lang="en-US" b="0" i="0" dirty="0"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 static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7031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E955F-596C-4FF9-86C8-C6626468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12181"/>
          </a:xfrm>
        </p:spPr>
        <p:txBody>
          <a:bodyPr/>
          <a:lstStyle/>
          <a:p>
            <a:r>
              <a:rPr lang="fr-CA" dirty="0"/>
              <a:t>Grandes lignes du code standard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B716E9-72BB-457C-8491-176828DF2A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7341" y="1574647"/>
            <a:ext cx="5647700" cy="37087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//instance unique de la classe </a:t>
            </a:r>
            <a:r>
              <a:rPr kumimoji="0" lang="fr-FR" altLang="fr-FR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ClasseAObjetUnique</a:t>
            </a: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qui est un Singleton</a:t>
            </a:r>
            <a:b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ClasseAObjetUnique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autres variables d’instances possibles 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méthode de base pour récupérer/créer le Singleton</a:t>
            </a:r>
            <a:b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ClasseAObjetUnique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getInstance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contexte )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instance 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instance 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ClasseAObjetUnique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(contexte);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1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constructeur </a:t>
            </a:r>
            <a:r>
              <a:rPr kumimoji="0" lang="fr-FR" altLang="fr-FR" sz="1100" b="0" i="1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private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ClasseAObjetUnique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fr-FR" sz="1100" dirty="0">
                <a:solidFill>
                  <a:srgbClr val="000000"/>
                </a:solidFill>
                <a:latin typeface="Consolas" panose="020B0609020204030204" pitchFamily="49" charset="0"/>
              </a:rPr>
              <a:t>et/ou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autres paramètres)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//initialisations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52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CB173D-CEE1-49D7-5BCB-EAA09418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46573"/>
          </a:xfrm>
        </p:spPr>
        <p:txBody>
          <a:bodyPr/>
          <a:lstStyle/>
          <a:p>
            <a:r>
              <a:rPr lang="fr-CA" dirty="0"/>
              <a:t>IMPORTANT :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FD5733-F561-1AB9-4E97-00C048E8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08481"/>
            <a:ext cx="10018713" cy="3982720"/>
          </a:xfrm>
        </p:spPr>
        <p:txBody>
          <a:bodyPr/>
          <a:lstStyle/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7DD461-A8A8-3C97-F68D-D438B981BC45}"/>
              </a:ext>
            </a:extLst>
          </p:cNvPr>
          <p:cNvSpPr txBox="1"/>
          <p:nvPr/>
        </p:nvSpPr>
        <p:spPr>
          <a:xfrm>
            <a:off x="1984587" y="1808481"/>
            <a:ext cx="95184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- On a vu que le contexte permet d’accéder à des services, des ressources ou à des fichiers de notre application </a:t>
            </a:r>
            <a:r>
              <a:rPr lang="fr-CA" dirty="0">
                <a:sym typeface="Wingdings" panose="05000000000000000000" pitchFamily="2" charset="2"/>
              </a:rPr>
              <a:t> on l’associait à la référence à notre activité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- Un Singleton étant une référence statique; il vit tant que l’application n’est pas désinstallée de l’appareil Android 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- Supposons une app contenant 2 Activités; si on passe le Contexte comme étant la référence d’une Activité, il est possible que cette référence soit « tuée » par le système si l’autre activité ou une autre app a besoin de mémoire supplémentaire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- À ce moment , la référence </a:t>
            </a:r>
            <a:r>
              <a:rPr lang="fr-CA" dirty="0" err="1">
                <a:sym typeface="Wingdings" panose="05000000000000000000" pitchFamily="2" charset="2"/>
              </a:rPr>
              <a:t>Context</a:t>
            </a:r>
            <a:r>
              <a:rPr lang="fr-CA" dirty="0">
                <a:sym typeface="Wingdings" panose="05000000000000000000" pitchFamily="2" charset="2"/>
              </a:rPr>
              <a:t> utilisée par notre Singleton ( toujours vivant car on n’a pas désinstallé l’app ) </a:t>
            </a:r>
            <a:r>
              <a:rPr lang="fr-CA" dirty="0"/>
              <a:t> serait </a:t>
            </a:r>
            <a:r>
              <a:rPr lang="fr-CA" dirty="0" err="1"/>
              <a:t>null</a:t>
            </a:r>
            <a:r>
              <a:rPr lang="fr-CA" dirty="0"/>
              <a:t> et pourrait sûrement causer des problèmes</a:t>
            </a:r>
          </a:p>
          <a:p>
            <a:endParaRPr lang="fr-CA" b="1" dirty="0"/>
          </a:p>
          <a:p>
            <a:r>
              <a:rPr lang="fr-CA" b="1" dirty="0"/>
              <a:t>- Alors pour avoir une référence </a:t>
            </a:r>
            <a:r>
              <a:rPr lang="fr-CA" b="1" dirty="0" err="1"/>
              <a:t>Context</a:t>
            </a:r>
            <a:r>
              <a:rPr lang="fr-CA" b="1" dirty="0"/>
              <a:t> valide tout au long de la vie de l’app, on va l’initialiser avec </a:t>
            </a:r>
            <a:r>
              <a:rPr lang="fr-CA" b="1" dirty="0" err="1"/>
              <a:t>getApplicationContext</a:t>
            </a:r>
            <a:r>
              <a:rPr lang="fr-CA" b="1" dirty="0"/>
              <a:t>() plutôt que le contexte de l’activité ( </a:t>
            </a:r>
            <a:r>
              <a:rPr lang="fr-CA" b="1" dirty="0" err="1"/>
              <a:t>this</a:t>
            </a:r>
            <a:r>
              <a:rPr lang="fr-CA" b="1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70878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e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12918</TotalTime>
  <Words>709</Words>
  <Application>Microsoft Office PowerPoint</Application>
  <PresentationFormat>Grand écran</PresentationFormat>
  <Paragraphs>46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Cambria</vt:lpstr>
      <vt:lpstr>Consolas</vt:lpstr>
      <vt:lpstr>Corbel</vt:lpstr>
      <vt:lpstr>Courier New</vt:lpstr>
      <vt:lpstr>Parallaxe</vt:lpstr>
      <vt:lpstr>Modèle de conception Singleton</vt:lpstr>
      <vt:lpstr>Les patrons de conception ( design patterns )</vt:lpstr>
      <vt:lpstr>Le singleton</vt:lpstr>
      <vt:lpstr>Le singleton : but</vt:lpstr>
      <vt:lpstr>Exemple de modélisations avec un Singleton</vt:lpstr>
      <vt:lpstr>Pourquoi utiliser un Singleton plutôt qu’une classe static ( une seule copie pour la classe ) ?</vt:lpstr>
      <vt:lpstr>Grandes lignes du code standard</vt:lpstr>
      <vt:lpstr>IMPORTANT : Contexte</vt:lpstr>
    </vt:vector>
  </TitlesOfParts>
  <Company>Cégep du Vieux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Travail final - compléments</dc:title>
  <dc:creator>Éric Labonté</dc:creator>
  <cp:lastModifiedBy>Labonté Éric</cp:lastModifiedBy>
  <cp:revision>90</cp:revision>
  <cp:lastPrinted>2017-05-02T15:35:38Z</cp:lastPrinted>
  <dcterms:created xsi:type="dcterms:W3CDTF">2017-05-02T00:28:45Z</dcterms:created>
  <dcterms:modified xsi:type="dcterms:W3CDTF">2025-03-04T01:01:01Z</dcterms:modified>
</cp:coreProperties>
</file>